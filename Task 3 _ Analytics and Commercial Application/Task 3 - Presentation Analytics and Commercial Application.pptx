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4778" r:id="rId2"/>
    <p:sldId id="1010" r:id="rId3"/>
    <p:sldId id="4780" r:id="rId4"/>
    <p:sldId id="4779" r:id="rId5"/>
    <p:sldId id="4781" r:id="rId6"/>
    <p:sldId id="4782" r:id="rId7"/>
    <p:sldId id="4783" r:id="rId8"/>
    <p:sldId id="4784" r:id="rId9"/>
    <p:sldId id="4785" r:id="rId10"/>
    <p:sldId id="4786" r:id="rId11"/>
    <p:sldId id="4787" r:id="rId12"/>
    <p:sldId id="275" r:id="rId13"/>
  </p:sldIdLst>
  <p:sldSz cx="12192000" cy="6858000"/>
  <p:notesSz cx="6858000" cy="9144000"/>
  <p:embeddedFontLst>
    <p:embeddedFont>
      <p:font typeface="Roboto" panose="02000000000000000000" pitchFamily="2" charset="0"/>
      <p:regular r:id="rId15"/>
      <p:bold r:id="rId16"/>
      <p:italic r:id="rId17"/>
      <p:boldItalic r:id="rId18"/>
    </p:embeddedFont>
    <p:embeddedFont>
      <p:font typeface="Roboto Light" panose="02000000000000000000" pitchFamily="2" charset="0"/>
      <p:regular r:id="rId19"/>
      <p:italic r:id="rId20"/>
    </p:embeddedFont>
    <p:embeddedFont>
      <p:font typeface="Roboto Medium" panose="020000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 id="4787"/>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2" d="100"/>
          <a:sy n="72" d="100"/>
        </p:scale>
        <p:origin x="1320"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9/03/2026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12</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microsoft.com/office/2007/relationships/hdphoto" Target="../media/hdphoto5.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Mar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Customer Analytics</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Trail Store Analysis</a:t>
            </a:r>
          </a:p>
          <a:p>
            <a:pPr algn="l"/>
            <a:r>
              <a:rPr lang="en-AU" sz="1400" dirty="0">
                <a:latin typeface="Roboto" panose="02000000000000000000" pitchFamily="2" charset="0"/>
                <a:ea typeface="Roboto" panose="02000000000000000000" pitchFamily="2" charset="0"/>
                <a:cs typeface="Roboto" panose="02000000000000000000" pitchFamily="2" charset="0"/>
              </a:rPr>
              <a:t>(Uplift Analysis)</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marL="171450" indent="-171450" algn="l">
              <a:buFont typeface="Arial" panose="020B0604020202020204" pitchFamily="34" charset="0"/>
              <a:buChar char="•"/>
            </a:pPr>
            <a:r>
              <a:rPr lang="en-AU" sz="1200" dirty="0">
                <a:latin typeface="Calibri Light" panose="020F0302020204030204" pitchFamily="34" charset="0"/>
                <a:ea typeface="Roboto Light" panose="02000000000000000000" pitchFamily="2" charset="0"/>
                <a:cs typeface="Calibri Light" panose="020F0302020204030204" pitchFamily="34" charset="0"/>
              </a:rPr>
              <a:t>The three highest contributing segments to </a:t>
            </a:r>
            <a:r>
              <a:rPr lang="en-AU" sz="1200" b="1" dirty="0">
                <a:latin typeface="Calibri Light" panose="020F0302020204030204" pitchFamily="34" charset="0"/>
                <a:ea typeface="Roboto Light" panose="02000000000000000000" pitchFamily="2" charset="0"/>
                <a:cs typeface="Calibri Light" panose="020F0302020204030204" pitchFamily="34" charset="0"/>
              </a:rPr>
              <a:t>total sales </a:t>
            </a:r>
            <a:r>
              <a:rPr lang="en-AU" sz="1200" dirty="0">
                <a:latin typeface="Calibri Light" panose="020F0302020204030204" pitchFamily="34" charset="0"/>
                <a:ea typeface="Roboto Light" panose="02000000000000000000" pitchFamily="2" charset="0"/>
                <a:cs typeface="Calibri Light" panose="020F0302020204030204" pitchFamily="34" charset="0"/>
              </a:rPr>
              <a:t> are </a:t>
            </a:r>
            <a:r>
              <a:rPr lang="en-AU" sz="1200" b="1" dirty="0">
                <a:latin typeface="Calibri Light" panose="020F0302020204030204" pitchFamily="34" charset="0"/>
                <a:ea typeface="Roboto Light" panose="02000000000000000000" pitchFamily="2" charset="0"/>
                <a:cs typeface="Calibri Light" panose="020F0302020204030204" pitchFamily="34" charset="0"/>
              </a:rPr>
              <a:t>Mainstream Mid-age Singles/Couples, Premium Retirees</a:t>
            </a:r>
            <a:r>
              <a:rPr lang="en-AU" sz="1200" dirty="0">
                <a:latin typeface="Calibri Light" panose="020F0302020204030204" pitchFamily="34" charset="0"/>
                <a:ea typeface="Roboto Light" panose="02000000000000000000" pitchFamily="2" charset="0"/>
                <a:cs typeface="Calibri Light" panose="020F0302020204030204" pitchFamily="34" charset="0"/>
              </a:rPr>
              <a:t> and </a:t>
            </a:r>
            <a:r>
              <a:rPr lang="en-AU" sz="1200" b="1" dirty="0">
                <a:latin typeface="Calibri Light" panose="020F0302020204030204" pitchFamily="34" charset="0"/>
                <a:ea typeface="Roboto Light" panose="02000000000000000000" pitchFamily="2" charset="0"/>
                <a:cs typeface="Calibri Light" panose="020F0302020204030204" pitchFamily="34" charset="0"/>
              </a:rPr>
              <a:t>Budget Older Singles/Couples </a:t>
            </a:r>
            <a:r>
              <a:rPr lang="en-US" sz="1200" b="1" dirty="0">
                <a:latin typeface="Calibri Light" panose="020F0302020204030204" pitchFamily="34" charset="0"/>
                <a:ea typeface="Roboto Light" panose="02000000000000000000" pitchFamily="2" charset="0"/>
                <a:cs typeface="Calibri Light" panose="020F0302020204030204" pitchFamily="34" charset="0"/>
              </a:rPr>
              <a:t>.</a:t>
            </a:r>
          </a:p>
          <a:p>
            <a:pPr marL="171450" indent="-171450" algn="l">
              <a:buFont typeface="Arial" panose="020B0604020202020204" pitchFamily="34" charset="0"/>
              <a:buChar char="•"/>
            </a:pPr>
            <a:endParaRPr lang="en-US" sz="1200" b="1" dirty="0">
              <a:latin typeface="Calibri Light" panose="020F0302020204030204" pitchFamily="34" charset="0"/>
              <a:ea typeface="Roboto Light" panose="02000000000000000000" pitchFamily="2" charset="0"/>
              <a:cs typeface="Calibri Light" panose="020F0302020204030204" pitchFamily="34" charset="0"/>
            </a:endParaRPr>
          </a:p>
          <a:p>
            <a:pPr marL="171450" indent="-171450" algn="l">
              <a:buFont typeface="Arial" panose="020B0604020202020204" pitchFamily="34" charset="0"/>
              <a:buChar char="•"/>
            </a:pPr>
            <a:r>
              <a:rPr lang="en-US" sz="1200" dirty="0">
                <a:latin typeface="Calibri Light" panose="020F0302020204030204" pitchFamily="34" charset="0"/>
                <a:ea typeface="Roboto Light" panose="02000000000000000000" pitchFamily="2" charset="0"/>
                <a:cs typeface="Calibri Light" panose="020F0302020204030204" pitchFamily="34" charset="0"/>
              </a:rPr>
              <a:t>Factor driving sales are </a:t>
            </a:r>
            <a:r>
              <a:rPr lang="en-US" sz="1200" b="1" dirty="0">
                <a:latin typeface="Calibri Light" panose="020F0302020204030204" pitchFamily="34" charset="0"/>
                <a:ea typeface="Roboto Light" panose="02000000000000000000" pitchFamily="2" charset="0"/>
                <a:cs typeface="Calibri Light" panose="020F0302020204030204" pitchFamily="34" charset="0"/>
              </a:rPr>
              <a:t>older families have largest total number of chips packets purchased.</a:t>
            </a:r>
          </a:p>
          <a:p>
            <a:pPr marL="171450" indent="-171450" algn="l">
              <a:buFont typeface="Arial" panose="020B0604020202020204" pitchFamily="34" charset="0"/>
              <a:buChar char="•"/>
            </a:pPr>
            <a:endParaRPr lang="en-US" sz="1200" b="1" dirty="0">
              <a:latin typeface="Calibri Light" panose="020F0302020204030204" pitchFamily="34" charset="0"/>
              <a:ea typeface="Roboto Light" panose="02000000000000000000" pitchFamily="2" charset="0"/>
              <a:cs typeface="Calibri Light" panose="020F0302020204030204" pitchFamily="34" charset="0"/>
            </a:endParaRPr>
          </a:p>
          <a:p>
            <a:pPr marL="171450" indent="-171450" algn="l">
              <a:buFont typeface="Arial" panose="020B0604020202020204" pitchFamily="34" charset="0"/>
              <a:buChar char="•"/>
            </a:pPr>
            <a:r>
              <a:rPr lang="en-US" sz="1200" dirty="0">
                <a:latin typeface="Calibri Light" panose="020F0302020204030204" pitchFamily="34" charset="0"/>
                <a:ea typeface="Roboto Light" panose="02000000000000000000" pitchFamily="2" charset="0"/>
                <a:cs typeface="Calibri Light" panose="020F0302020204030204" pitchFamily="34" charset="0"/>
              </a:rPr>
              <a:t>The</a:t>
            </a:r>
            <a:r>
              <a:rPr lang="en-US" sz="1200" b="1" dirty="0">
                <a:latin typeface="Calibri Light" panose="020F0302020204030204" pitchFamily="34" charset="0"/>
                <a:ea typeface="Roboto Light" panose="02000000000000000000" pitchFamily="2" charset="0"/>
                <a:cs typeface="Calibri Light" panose="020F0302020204030204" pitchFamily="34" charset="0"/>
              </a:rPr>
              <a:t> top product </a:t>
            </a:r>
            <a:r>
              <a:rPr lang="en-US" sz="1200" dirty="0">
                <a:latin typeface="Calibri Light" panose="020F0302020204030204" pitchFamily="34" charset="0"/>
                <a:ea typeface="Roboto Light" panose="02000000000000000000" pitchFamily="2" charset="0"/>
                <a:cs typeface="Calibri Light" panose="020F0302020204030204" pitchFamily="34" charset="0"/>
              </a:rPr>
              <a:t>that was purchased was </a:t>
            </a:r>
            <a:r>
              <a:rPr lang="en-US" sz="1200" b="1" dirty="0">
                <a:latin typeface="Calibri Light" panose="020F0302020204030204" pitchFamily="34" charset="0"/>
                <a:ea typeface="Roboto Light" panose="02000000000000000000" pitchFamily="2" charset="0"/>
                <a:cs typeface="Calibri Light" panose="020F0302020204030204" pitchFamily="34" charset="0"/>
              </a:rPr>
              <a:t>Kettle Mozzarella</a:t>
            </a:r>
            <a:r>
              <a:rPr lang="en-US" sz="1200" dirty="0">
                <a:latin typeface="Calibri Light" panose="020F0302020204030204" pitchFamily="34" charset="0"/>
                <a:ea typeface="Roboto Light" panose="02000000000000000000" pitchFamily="2" charset="0"/>
                <a:cs typeface="Calibri Light" panose="020F0302020204030204" pitchFamily="34" charset="0"/>
              </a:rPr>
              <a:t> </a:t>
            </a:r>
            <a:r>
              <a:rPr lang="en-US" sz="1200" b="1" dirty="0">
                <a:latin typeface="Calibri Light" panose="020F0302020204030204" pitchFamily="34" charset="0"/>
                <a:ea typeface="Roboto Light" panose="02000000000000000000" pitchFamily="2" charset="0"/>
                <a:cs typeface="Calibri Light" panose="020F0302020204030204" pitchFamily="34" charset="0"/>
              </a:rPr>
              <a:t>Basil and Pesto 175 g </a:t>
            </a:r>
            <a:r>
              <a:rPr lang="en-US" sz="1200" dirty="0">
                <a:latin typeface="Calibri Light" panose="020F0302020204030204" pitchFamily="34" charset="0"/>
                <a:ea typeface="Roboto Light" panose="02000000000000000000" pitchFamily="2" charset="0"/>
                <a:cs typeface="Calibri Light" panose="020F0302020204030204" pitchFamily="34" charset="0"/>
              </a:rPr>
              <a:t>having a count of </a:t>
            </a:r>
            <a:r>
              <a:rPr lang="en-US" sz="1200" b="1" dirty="0">
                <a:latin typeface="Calibri Light" panose="020F0302020204030204" pitchFamily="34" charset="0"/>
                <a:ea typeface="Roboto Light" panose="02000000000000000000" pitchFamily="2" charset="0"/>
                <a:cs typeface="Calibri Light" panose="020F0302020204030204" pitchFamily="34" charset="0"/>
              </a:rPr>
              <a:t>3304.</a:t>
            </a:r>
          </a:p>
          <a:p>
            <a:pPr marL="171450" indent="-171450" algn="l">
              <a:buFont typeface="Arial" panose="020B0604020202020204" pitchFamily="34" charset="0"/>
              <a:buChar char="•"/>
            </a:pPr>
            <a:endParaRPr lang="en-AU" sz="1200" dirty="0">
              <a:latin typeface="Calibri Light" panose="020F0302020204030204" pitchFamily="34" charset="0"/>
              <a:ea typeface="Roboto Light" panose="02000000000000000000" pitchFamily="2" charset="0"/>
              <a:cs typeface="Calibri Light" panose="020F0302020204030204" pitchFamily="34"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AU" sz="1200" dirty="0">
                <a:latin typeface="Calibri Light" panose="020F0302020204030204" pitchFamily="34" charset="0"/>
                <a:ea typeface="Roboto Light" panose="02000000000000000000" pitchFamily="2" charset="0"/>
                <a:cs typeface="Calibri Light" panose="020F0302020204030204" pitchFamily="34" charset="0"/>
              </a:rPr>
              <a:t>A trial changing the store layout was </a:t>
            </a:r>
            <a:r>
              <a:rPr lang="en-US" sz="1200" dirty="0">
                <a:latin typeface="Calibri Light" panose="020F0302020204030204" pitchFamily="34" charset="0"/>
                <a:ea typeface="Roboto Light" panose="02000000000000000000" pitchFamily="2" charset="0"/>
                <a:cs typeface="Calibri Light" panose="020F0302020204030204" pitchFamily="34" charset="0"/>
              </a:rPr>
              <a:t>implemented in three stores.</a:t>
            </a:r>
          </a:p>
          <a:p>
            <a:pPr marL="171450" indent="-171450">
              <a:buFont typeface="Arial" panose="020B0604020202020204" pitchFamily="34" charset="0"/>
              <a:buChar char="•"/>
            </a:pPr>
            <a:endParaRPr lang="en-US" sz="1200" dirty="0">
              <a:latin typeface="Calibri Light" panose="020F0302020204030204" pitchFamily="34" charset="0"/>
              <a:ea typeface="Roboto Light" panose="02000000000000000000" pitchFamily="2" charset="0"/>
              <a:cs typeface="Calibri Light" panose="020F0302020204030204" pitchFamily="34" charset="0"/>
            </a:endParaRPr>
          </a:p>
          <a:p>
            <a:pPr marL="171450" indent="-171450">
              <a:buFont typeface="Arial" panose="020B0604020202020204" pitchFamily="34" charset="0"/>
              <a:buChar char="•"/>
            </a:pPr>
            <a:r>
              <a:rPr lang="en-US" sz="1200" dirty="0">
                <a:latin typeface="Calibri Light" panose="020F0302020204030204" pitchFamily="34" charset="0"/>
                <a:ea typeface="Roboto Light" panose="02000000000000000000" pitchFamily="2" charset="0"/>
                <a:cs typeface="Calibri Light" panose="020F0302020204030204" pitchFamily="34" charset="0"/>
              </a:rPr>
              <a:t>A control store was constructed to reflect the prior performance of the selected trial store.</a:t>
            </a:r>
          </a:p>
          <a:p>
            <a:pPr marL="171450" indent="-171450">
              <a:buFont typeface="Arial" panose="020B0604020202020204" pitchFamily="34" charset="0"/>
              <a:buChar char="•"/>
            </a:pPr>
            <a:endParaRPr lang="en-US" sz="1200" dirty="0">
              <a:latin typeface="Calibri Light" panose="020F0302020204030204" pitchFamily="34" charset="0"/>
              <a:ea typeface="Roboto Light" panose="02000000000000000000" pitchFamily="2" charset="0"/>
              <a:cs typeface="Calibri Light" panose="020F0302020204030204" pitchFamily="34" charset="0"/>
            </a:endParaRPr>
          </a:p>
          <a:p>
            <a:pPr marL="171450" indent="-171450">
              <a:buFont typeface="Arial" panose="020B0604020202020204" pitchFamily="34" charset="0"/>
              <a:buChar char="•"/>
            </a:pPr>
            <a:r>
              <a:rPr lang="en-US" sz="1200" dirty="0">
                <a:latin typeface="Calibri Light" panose="020F0302020204030204" pitchFamily="34" charset="0"/>
                <a:ea typeface="Roboto Light" panose="02000000000000000000" pitchFamily="2" charset="0"/>
                <a:cs typeface="Calibri Light" panose="020F0302020204030204" pitchFamily="34" charset="0"/>
              </a:rPr>
              <a:t>The trial saw a significant increase in the total sales and number of customers with a new store layout.</a:t>
            </a:r>
            <a:endParaRPr lang="en-AU" sz="1200" dirty="0">
              <a:latin typeface="Calibri Light" panose="020F0302020204030204" pitchFamily="34" charset="0"/>
              <a:ea typeface="Roboto Light" panose="02000000000000000000" pitchFamily="2" charset="0"/>
              <a:cs typeface="Calibri Light" panose="020F0302020204030204" pitchFamily="34"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Customer Analytics</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2000" dirty="0"/>
              <a:t>Older and Younger Families group purchased more number of chips packets.</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3" name="Picture 2">
            <a:extLst>
              <a:ext uri="{FF2B5EF4-FFF2-40B4-BE49-F238E27FC236}">
                <a16:creationId xmlns:a16="http://schemas.microsoft.com/office/drawing/2014/main" id="{F36A973C-709F-47CB-831D-8BA69492CB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375724" y="1304925"/>
            <a:ext cx="7282262" cy="5002474"/>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2000" dirty="0"/>
              <a:t>Instead, Sales are coming from Mainstream Mid-Age Singles/Couples followed by Premium Retirees.</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4FAC6693-C941-4015-8A20-9652A4270BD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655080" y="966866"/>
            <a:ext cx="6718752" cy="5437763"/>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2000" dirty="0"/>
              <a:t>Mainstream Young Singles/Couples have the highest consumption of chips by packet size leading to an increase in the total sales. </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625553D7-9454-4340-807E-1BC8FAE080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4538294" y="1277770"/>
            <a:ext cx="7006146" cy="5126859"/>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319649"/>
            <a:ext cx="10479600" cy="824400"/>
          </a:xfrm>
        </p:spPr>
        <p:txBody>
          <a:bodyPr/>
          <a:lstStyle/>
          <a:p>
            <a:r>
              <a:rPr lang="en-US" sz="1050" b="1" i="0" dirty="0">
                <a:effectLst/>
                <a:latin typeface="Times New Roman" panose="02020603050405020304" pitchFamily="18" charset="0"/>
                <a:cs typeface="Times New Roman" panose="02020603050405020304" pitchFamily="18" charset="0"/>
              </a:rPr>
              <a:t>While the other trial stores performed the same as their corresponding control stores, we can see, however, that STORE_NBR 88 slightly out-performed its control store in all attributes. We can also notice that STORE_NBR 86 and 88 show a significant difference in terms of the total sales, but this isn't the case with STORE_NBR 77, whose sales are considerably less.</a:t>
            </a:r>
          </a:p>
          <a:p>
            <a:endParaRPr lang="en-AU"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25E2C1E3-1AEC-48FF-AFEB-CC6A5FD6F61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334854" y="1018659"/>
            <a:ext cx="10203842" cy="510749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332939" y="178479"/>
            <a:ext cx="10479600" cy="824400"/>
          </a:xfrm>
        </p:spPr>
        <p:txBody>
          <a:bodyPr/>
          <a:lstStyle/>
          <a:p>
            <a:r>
              <a:rPr lang="en-US" sz="1100" b="1" i="0" dirty="0">
                <a:effectLst/>
                <a:latin typeface="Times New Roman" panose="02020603050405020304" pitchFamily="18" charset="0"/>
                <a:cs typeface="Times New Roman" panose="02020603050405020304" pitchFamily="18" charset="0"/>
              </a:rPr>
              <a:t>We can, notice that STORE_NBR 88 slightly out-performs its control store, STORE_NBR 165, and still remains the best implementation of the trial of all the trial stores. The driver for this seems to be the purchasing customers rather than purchases per customer, as we can see that with the increase in the total customers, there's also an increase in the total sales almost identically, but the transactions per customer seem to be reasonably high for all the trial stores regardless of the total sales.</a:t>
            </a:r>
          </a:p>
          <a:p>
            <a:endParaRPr lang="en-AU" sz="1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CDCC41E8-F181-421A-BF90-880C48AB534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154433" y="1002879"/>
            <a:ext cx="10836613" cy="5034692"/>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D744E0-84B0-422C-A7C5-7052175D7613}"/>
              </a:ext>
            </a:extLst>
          </p:cNvPr>
          <p:cNvSpPr txBox="1"/>
          <p:nvPr/>
        </p:nvSpPr>
        <p:spPr>
          <a:xfrm>
            <a:off x="1361872" y="301557"/>
            <a:ext cx="10505873" cy="2704290"/>
          </a:xfrm>
          <a:prstGeom prst="rect">
            <a:avLst/>
          </a:prstGeom>
          <a:noFill/>
        </p:spPr>
        <p:txBody>
          <a:bodyPr wrap="square" lIns="0" tIns="0" rIns="0" bIns="0" rtlCol="0" anchor="t">
            <a:noAutofit/>
          </a:bodyPr>
          <a:lstStyle/>
          <a:p>
            <a:pPr algn="l"/>
            <a:r>
              <a:rPr lang="en-US" b="1" i="0" u="sng" dirty="0">
                <a:effectLst/>
                <a:latin typeface="Calibri Light" panose="020F0302020204030204" pitchFamily="34" charset="0"/>
                <a:cs typeface="Calibri Light" panose="020F0302020204030204" pitchFamily="34" charset="0"/>
              </a:rPr>
              <a:t>Conclusion</a:t>
            </a:r>
          </a:p>
          <a:p>
            <a:pPr algn="l"/>
            <a:endParaRPr lang="en-US" b="1" i="0" u="sng" dirty="0">
              <a:effectLst/>
              <a:latin typeface="Calibri Light" panose="020F0302020204030204" pitchFamily="34" charset="0"/>
              <a:cs typeface="Calibri Light" panose="020F0302020204030204" pitchFamily="34" charset="0"/>
            </a:endParaRPr>
          </a:p>
          <a:p>
            <a:pPr marL="171450" indent="-171450" algn="l">
              <a:buFont typeface="Wingdings" panose="05000000000000000000" pitchFamily="2" charset="2"/>
              <a:buChar char="à"/>
            </a:pPr>
            <a:r>
              <a:rPr lang="en-US" sz="1400" b="1" i="0" dirty="0">
                <a:effectLst/>
                <a:latin typeface="Calibri Light" panose="020F0302020204030204" pitchFamily="34" charset="0"/>
                <a:cs typeface="Calibri Light" panose="020F0302020204030204" pitchFamily="34" charset="0"/>
              </a:rPr>
              <a:t>While the other trial stores performed the same as their corresponding control stores, we can see, however, that STORE_NBR 88 slightly out-performed its control store, STORE_NBR 165, in all attributes.</a:t>
            </a:r>
          </a:p>
          <a:p>
            <a:pPr marL="171450" indent="-171450" algn="l">
              <a:buFont typeface="Wingdings" panose="05000000000000000000" pitchFamily="2" charset="2"/>
              <a:buChar char="à"/>
            </a:pPr>
            <a:endParaRPr lang="en-US" sz="1400" b="1" i="0" dirty="0">
              <a:effectLst/>
              <a:latin typeface="Calibri Light" panose="020F0302020204030204" pitchFamily="34" charset="0"/>
              <a:cs typeface="Calibri Light" panose="020F0302020204030204" pitchFamily="34" charset="0"/>
            </a:endParaRPr>
          </a:p>
          <a:p>
            <a:pPr marL="171450" indent="-171450" algn="l">
              <a:buFont typeface="Wingdings" panose="05000000000000000000" pitchFamily="2" charset="2"/>
              <a:buChar char="à"/>
            </a:pPr>
            <a:r>
              <a:rPr lang="en-US" sz="1400" b="1" i="0" dirty="0">
                <a:effectLst/>
                <a:latin typeface="Calibri Light" panose="020F0302020204030204" pitchFamily="34" charset="0"/>
                <a:cs typeface="Calibri Light" panose="020F0302020204030204" pitchFamily="34" charset="0"/>
              </a:rPr>
              <a:t>STORE_NBR 86 and 88 show a significant difference in terms of the total sales, but this isn't the case with STORE_NBR 77, which may be because of the way the trial was implemented for it.</a:t>
            </a:r>
          </a:p>
          <a:p>
            <a:pPr marL="171450" indent="-171450" algn="l">
              <a:buFont typeface="Wingdings" panose="05000000000000000000" pitchFamily="2" charset="2"/>
              <a:buChar char="à"/>
            </a:pPr>
            <a:endParaRPr lang="en-US" sz="1400" b="1" i="0" dirty="0">
              <a:effectLst/>
              <a:latin typeface="Calibri Light" panose="020F0302020204030204" pitchFamily="34" charset="0"/>
              <a:cs typeface="Calibri Light" panose="020F0302020204030204" pitchFamily="34" charset="0"/>
            </a:endParaRPr>
          </a:p>
          <a:p>
            <a:pPr marL="171450" indent="-171450" algn="l">
              <a:buFont typeface="Wingdings" panose="05000000000000000000" pitchFamily="2" charset="2"/>
              <a:buChar char="à"/>
            </a:pPr>
            <a:r>
              <a:rPr lang="en-US" sz="1400" b="1" i="0" dirty="0">
                <a:effectLst/>
                <a:latin typeface="Calibri Light" panose="020F0302020204030204" pitchFamily="34" charset="0"/>
                <a:cs typeface="Calibri Light" panose="020F0302020204030204" pitchFamily="34" charset="0"/>
              </a:rPr>
              <a:t>Due to the maximum difference in the total sales of all the trial stores, STORE_NBR 88 remains the best implementation of the trial.</a:t>
            </a:r>
          </a:p>
          <a:p>
            <a:pPr marL="171450" indent="-171450" algn="l">
              <a:buFont typeface="Wingdings" panose="05000000000000000000" pitchFamily="2" charset="2"/>
              <a:buChar char="à"/>
            </a:pPr>
            <a:endParaRPr lang="en-US" sz="1400" b="1" i="0" dirty="0">
              <a:effectLst/>
              <a:latin typeface="Calibri Light" panose="020F0302020204030204" pitchFamily="34" charset="0"/>
              <a:cs typeface="Calibri Light" panose="020F0302020204030204" pitchFamily="34" charset="0"/>
            </a:endParaRPr>
          </a:p>
          <a:p>
            <a:pPr algn="l"/>
            <a:r>
              <a:rPr lang="en-US" sz="1400" b="1" i="0" dirty="0">
                <a:effectLst/>
                <a:latin typeface="Calibri Light" panose="020F0302020204030204" pitchFamily="34" charset="0"/>
                <a:cs typeface="Calibri Light" panose="020F0302020204030204" pitchFamily="34" charset="0"/>
              </a:rPr>
              <a:t>--&gt; The driver for the increase in total sales seems to be the purchasing customers rather than purchases per customer — the more the customers, the higher the sales.</a:t>
            </a:r>
          </a:p>
          <a:p>
            <a:pPr algn="l"/>
            <a:endParaRPr lang="en-IN" sz="1200" dirty="0" err="1">
              <a:latin typeface="Calibri Light" panose="020F0302020204030204" pitchFamily="34" charset="0"/>
              <a:ea typeface="Roboto Light" panose="02000000000000000000" pitchFamily="2" charset="0"/>
              <a:cs typeface="Calibri Light" panose="020F0302020204030204" pitchFamily="34" charset="0"/>
            </a:endParaRPr>
          </a:p>
        </p:txBody>
      </p:sp>
    </p:spTree>
    <p:extLst>
      <p:ext uri="{BB962C8B-B14F-4D97-AF65-F5344CB8AC3E}">
        <p14:creationId xmlns:p14="http://schemas.microsoft.com/office/powerpoint/2010/main" val="245426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6406</TotalTime>
  <Words>749</Words>
  <Application>Microsoft Office PowerPoint</Application>
  <PresentationFormat>Widescreen</PresentationFormat>
  <Paragraphs>54</Paragraphs>
  <Slides>12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Times New Roman</vt:lpstr>
      <vt:lpstr>Calibri Light</vt:lpstr>
      <vt:lpstr>Wingdings</vt:lpstr>
      <vt:lpstr>Roboto Light</vt:lpstr>
      <vt:lpstr>Roboto</vt:lpstr>
      <vt:lpstr>Roboto Medium</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Lewis;ADVAIT GURUNATH CHAVAN</dc:creator>
  <cp:lastModifiedBy>Ace Lake</cp:lastModifiedBy>
  <cp:revision>473</cp:revision>
  <cp:lastPrinted>2026-03-09T01:17:27Z</cp:lastPrinted>
  <dcterms:created xsi:type="dcterms:W3CDTF">2018-02-07T23:23:24Z</dcterms:created>
  <dcterms:modified xsi:type="dcterms:W3CDTF">2026-03-09T06:19:45Z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